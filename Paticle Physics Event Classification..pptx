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1" r:id="rId1"/>
  </p:sldMasterIdLst>
  <p:sldIdLst>
    <p:sldId id="256" r:id="rId2"/>
    <p:sldId id="263" r:id="rId3"/>
    <p:sldId id="265" r:id="rId4"/>
    <p:sldId id="266" r:id="rId5"/>
    <p:sldId id="258" r:id="rId6"/>
    <p:sldId id="260" r:id="rId7"/>
    <p:sldId id="267" r:id="rId8"/>
    <p:sldId id="269" r:id="rId9"/>
    <p:sldId id="261" r:id="rId10"/>
    <p:sldId id="268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8B6B14-39BF-E90D-E645-5CF3C8E8ED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748E06-7CE7-4B93-A244-0912802E19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64A4C2-075A-FE70-CDF4-22A94C4381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6221E-5086-4AB1-8E49-CA067E44F0C4}" type="datetimeFigureOut">
              <a:rPr lang="en-IN" smtClean="0"/>
              <a:t>13-10-2025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4E3892-489E-EAC1-694C-F0F3ABD26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5D4E58-775D-1E50-1B1C-8A897E11E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CD985F-CA41-4B25-86D7-FCF8703214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69637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47F298-F101-A2B4-7342-6FB9D2E4BF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444FB3-78F0-443E-B4B5-47DBCB4135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43A8E3-4E96-D160-8A68-0434F7A238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6221E-5086-4AB1-8E49-CA067E44F0C4}" type="datetimeFigureOut">
              <a:rPr lang="en-IN" smtClean="0"/>
              <a:t>13-10-2025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D6E845-4496-3A1E-2BBB-122152D4E1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7692FB-68AA-456B-BB63-F49FFB3D5A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CD985F-CA41-4B25-86D7-FCF8703214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64024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2FF18-EB78-F753-A39D-8C31ABAA6D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1E74BE-5CB5-3327-CE8B-41B932EFCC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A92AB3-0250-CF35-644C-FC0DE5225A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6221E-5086-4AB1-8E49-CA067E44F0C4}" type="datetimeFigureOut">
              <a:rPr lang="en-IN" smtClean="0"/>
              <a:t>13-10-2025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023396-8754-8D9E-8EC0-720694332F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8C87CD-36E8-3ABB-D00C-4566CBF11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CD985F-CA41-4B25-86D7-FCF8703214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75908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7CE906-1C0A-75FF-1EA0-06114EC3D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979E27-9F71-E25C-5A29-ACD2FD3412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D7D3B1-D10D-06BF-EBC9-1063E93607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C9D68C-8C17-C7ED-0723-395FBE2755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6221E-5086-4AB1-8E49-CA067E44F0C4}" type="datetimeFigureOut">
              <a:rPr lang="en-IN" smtClean="0"/>
              <a:t>13-10-2025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243218-4AF1-23CD-EC6B-89993D0CD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2A2BBD-82D5-6B29-2D24-94DC41613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CD985F-CA41-4B25-86D7-FCF8703214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4485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C8609B-5030-A0BA-F445-9C8C764DF7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46C633-5775-E873-3B69-7417E33C3F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12A49F-4ED0-32E5-B9AB-7DE18E2BA7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044E9EB-F153-936F-F473-EDC53DECB3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34EABFE-DD41-EE75-469D-0C1CCC1C28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264B980-77CE-DE79-9355-CD21D3F9F6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6221E-5086-4AB1-8E49-CA067E44F0C4}" type="datetimeFigureOut">
              <a:rPr lang="en-IN" smtClean="0"/>
              <a:t>13-10-2025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27FEB37-3B3E-59EB-29F8-5C48C7FE9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4BE703-05F2-62CF-64C5-ADD696B77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CD985F-CA41-4B25-86D7-FCF8703214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4355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C490F6-A652-0913-10A7-B2FEF3C43D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1E7E08-26B3-B8E1-79AD-71E6D005BE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6221E-5086-4AB1-8E49-CA067E44F0C4}" type="datetimeFigureOut">
              <a:rPr lang="en-IN" smtClean="0"/>
              <a:t>13-10-2025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AA86A3-4949-735C-773F-C452970F05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524D58-81EF-F831-9EA9-CFFECC9D7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CD985F-CA41-4B25-86D7-FCF8703214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7061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555D730-8CAA-3444-5B9A-E5585CA45E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6221E-5086-4AB1-8E49-CA067E44F0C4}" type="datetimeFigureOut">
              <a:rPr lang="en-IN" smtClean="0"/>
              <a:t>13-10-2025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2593FA-EA6B-7CBA-6CAE-8087A5B98F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68C651-00E1-B3A8-D09F-8B5BCDCA7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CD985F-CA41-4B25-86D7-FCF8703214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76583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3A5C89-0E31-B43D-99F7-DE50B61A16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F0368A-7198-5632-C801-8CF8672238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03E09C-95F4-E39B-DD48-7097F51F9A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EEC5FF-33A7-2DC0-7503-D1212DF993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6221E-5086-4AB1-8E49-CA067E44F0C4}" type="datetimeFigureOut">
              <a:rPr lang="en-IN" smtClean="0"/>
              <a:t>13-10-2025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C8BFA6-BA25-2600-F8B4-7E9F61B59B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3CCEDA-EFA6-F510-6492-BC19E2328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CD985F-CA41-4B25-86D7-FCF8703214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64618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B0A9BB-1EEE-C25D-689D-83FDE316C3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DC302E6-757A-FCD0-DCB7-9194B908AA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458FE1-EA13-21F1-33A7-FF0F684782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198DA6-88D8-80EA-84D8-D5A955FAF2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6221E-5086-4AB1-8E49-CA067E44F0C4}" type="datetimeFigureOut">
              <a:rPr lang="en-IN" smtClean="0"/>
              <a:t>13-10-2025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2BAE89-7853-2F82-90D6-C139B589D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7B94B2-3B9E-BBDA-5775-FC08333E8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CD985F-CA41-4B25-86D7-FCF8703214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55839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ECBC8C-ECFE-508C-8067-3F8A70AEE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0DF970-37E2-63EA-AC90-05C41E5598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C99008-E0E0-F9CD-D8A2-F3068CC16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6221E-5086-4AB1-8E49-CA067E44F0C4}" type="datetimeFigureOut">
              <a:rPr lang="en-IN" smtClean="0"/>
              <a:t>13-10-2025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7ADE0F-9695-9CC0-8A86-07E9F67059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94FFD7-20D3-8C16-382C-5E7D93DEFE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CD985F-CA41-4B25-86D7-FCF8703214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93873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1513D1A-4DBC-AF3B-6E45-5237A9A556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1E9388-BF24-E8A5-1DAF-F165713FB0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5FB3F3-DD7E-9D73-1192-CBDFD0459E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6221E-5086-4AB1-8E49-CA067E44F0C4}" type="datetimeFigureOut">
              <a:rPr lang="en-IN" smtClean="0"/>
              <a:t>13-10-2025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B5977B-E1D6-ACD6-0734-8300919DFE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470D66-5B81-DACF-5805-CA236DE8C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CD985F-CA41-4B25-86D7-FCF8703214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11823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9DA325F-98FA-2A7C-677C-0B2A165C5F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1AB209-6DF3-7D64-92F5-EA7840DBDF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894111-5262-3102-808E-36960AB212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26221E-5086-4AB1-8E49-CA067E44F0C4}" type="datetimeFigureOut">
              <a:rPr lang="en-IN" smtClean="0"/>
              <a:t>13-10-2025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4D9F1D-DD3E-39DD-56D2-6A0E0BDADB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20F7BC-36DB-0E99-788A-AC3F9259C3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CD985F-CA41-4B25-86D7-FCF8703214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43986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2" r:id="rId1"/>
    <p:sldLayoutId id="2147483763" r:id="rId2"/>
    <p:sldLayoutId id="2147483764" r:id="rId3"/>
    <p:sldLayoutId id="2147483765" r:id="rId4"/>
    <p:sldLayoutId id="2147483766" r:id="rId5"/>
    <p:sldLayoutId id="2147483767" r:id="rId6"/>
    <p:sldLayoutId id="2147483768" r:id="rId7"/>
    <p:sldLayoutId id="2147483769" r:id="rId8"/>
    <p:sldLayoutId id="2147483770" r:id="rId9"/>
    <p:sldLayoutId id="2147483771" r:id="rId10"/>
    <p:sldLayoutId id="214748377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C48916F-9527-F573-9585-212E8215D2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26488"/>
            <a:ext cx="10515600" cy="1325563"/>
          </a:xfrm>
        </p:spPr>
        <p:txBody>
          <a:bodyPr>
            <a:normAutofit/>
          </a:bodyPr>
          <a:lstStyle/>
          <a:p>
            <a:pPr algn="ctr">
              <a:spcBef>
                <a:spcPts val="0"/>
              </a:spcBef>
              <a:buSzPts val="3200"/>
            </a:pPr>
            <a:r>
              <a:rPr lang="en-IN" sz="2800" b="1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Arial"/>
              </a:rPr>
              <a:t>Title : </a:t>
            </a:r>
            <a:r>
              <a:rPr lang="en-IN" sz="2800" b="1" dirty="0">
                <a:solidFill>
                  <a:srgbClr val="0070C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Arial"/>
              </a:rPr>
              <a:t>Particle Physics Event Classification using Random Forest ML model : Signal Vs Background.</a:t>
            </a:r>
            <a:endParaRPr lang="en-IN" sz="2800" b="1" dirty="0">
              <a:solidFill>
                <a:srgbClr val="0070C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9E94229-FA5C-F0A5-18E6-43750C3B6F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6516"/>
            <a:ext cx="10515600" cy="480044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sz="2000" b="1" dirty="0">
                <a:solidFill>
                  <a:srgbClr val="C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Problem Statement:</a:t>
            </a:r>
          </a:p>
          <a:p>
            <a:pPr marL="514350" lvl="0" indent="-514350" algn="just">
              <a:spcBef>
                <a:spcPts val="0"/>
              </a:spcBef>
              <a:buSzPts val="2400"/>
              <a:buFont typeface="+mj-lt"/>
              <a:buAutoNum type="arabicPeriod"/>
            </a:pPr>
            <a:endParaRPr lang="en-US" sz="1800" dirty="0">
              <a:solidFill>
                <a:srgbClr val="0D0D0D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marL="514350" lvl="0" indent="-514350" algn="just">
              <a:spcBef>
                <a:spcPts val="0"/>
              </a:spcBef>
              <a:buSzPts val="2400"/>
              <a:buFont typeface="+mj-lt"/>
              <a:buAutoNum type="arabicPeriod"/>
            </a:pPr>
            <a:r>
              <a:rPr lang="en-US" sz="1800" dirty="0">
                <a:solidFill>
                  <a:srgbClr val="0D0D0D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In the field of particle physics, accurate identification and classification of events are crucial for understanding fundamental particles and their interactions. </a:t>
            </a:r>
          </a:p>
          <a:p>
            <a:pPr marL="514350" lvl="0" indent="-514350" algn="just">
              <a:spcBef>
                <a:spcPts val="0"/>
              </a:spcBef>
              <a:buSzPts val="2400"/>
              <a:buFont typeface="+mj-lt"/>
              <a:buAutoNum type="arabicPeriod"/>
            </a:pPr>
            <a:endParaRPr lang="en-US" sz="1800" dirty="0">
              <a:solidFill>
                <a:srgbClr val="0D0D0D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marL="514350" lvl="0" indent="-514350" algn="just">
              <a:spcBef>
                <a:spcPts val="0"/>
              </a:spcBef>
              <a:buSzPts val="2400"/>
              <a:buFont typeface="+mj-lt"/>
              <a:buAutoNum type="arabicPeriod"/>
            </a:pPr>
            <a:r>
              <a:rPr lang="en-US" sz="1800" dirty="0">
                <a:solidFill>
                  <a:srgbClr val="0D0D0D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The provided dataset contains various features derived from particle physics experiments, and the goal is to build a machine-learning model to classify events into signal (</a:t>
            </a:r>
            <a:r>
              <a:rPr lang="en-US" sz="1800" b="1" dirty="0">
                <a:solidFill>
                  <a:srgbClr val="0D0D0D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s</a:t>
            </a:r>
            <a:r>
              <a:rPr lang="en-US" sz="1800" dirty="0">
                <a:solidFill>
                  <a:srgbClr val="0D0D0D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) and background (</a:t>
            </a:r>
            <a:r>
              <a:rPr lang="en-US" sz="1800" b="1" dirty="0">
                <a:solidFill>
                  <a:srgbClr val="0D0D0D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b</a:t>
            </a:r>
            <a:r>
              <a:rPr lang="en-US" sz="1800" dirty="0">
                <a:solidFill>
                  <a:srgbClr val="0D0D0D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) categories. </a:t>
            </a:r>
          </a:p>
          <a:p>
            <a:pPr marL="514350" lvl="0" indent="-514350" algn="just">
              <a:spcBef>
                <a:spcPts val="0"/>
              </a:spcBef>
              <a:buSzPts val="2400"/>
              <a:buFont typeface="+mj-lt"/>
              <a:buAutoNum type="arabicPeriod"/>
            </a:pPr>
            <a:endParaRPr lang="en-US" sz="1800" dirty="0">
              <a:solidFill>
                <a:srgbClr val="0D0D0D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marL="514350" lvl="0" indent="-514350" algn="just">
              <a:spcBef>
                <a:spcPts val="0"/>
              </a:spcBef>
              <a:buSzPts val="2400"/>
              <a:buFont typeface="+mj-lt"/>
              <a:buAutoNum type="arabicPeriod"/>
            </a:pPr>
            <a:r>
              <a:rPr lang="en-US" sz="1800" dirty="0">
                <a:solidFill>
                  <a:srgbClr val="0D0D0D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This classification aids in distinguishing events of interest (signal) from background noise.</a:t>
            </a:r>
          </a:p>
          <a:p>
            <a:pPr marL="0" lvl="0" indent="0" algn="just">
              <a:spcBef>
                <a:spcPts val="0"/>
              </a:spcBef>
              <a:buSzPts val="2400"/>
              <a:buNone/>
            </a:pPr>
            <a:endParaRPr lang="en-US" sz="1800" dirty="0">
              <a:solidFill>
                <a:srgbClr val="0D0D0D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marL="0" lvl="0" indent="0" algn="just">
              <a:spcBef>
                <a:spcPts val="0"/>
              </a:spcBef>
              <a:buSzPts val="2400"/>
              <a:buNone/>
            </a:pPr>
            <a:endParaRPr lang="en-US" sz="1800" dirty="0">
              <a:solidFill>
                <a:srgbClr val="0D0D0D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marL="0" lvl="0" indent="0">
              <a:buSzPts val="2400"/>
              <a:buNone/>
            </a:pPr>
            <a:r>
              <a:rPr lang="en-IN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Objective/Goal:</a:t>
            </a:r>
          </a:p>
          <a:p>
            <a:pPr marL="0" lvl="0" indent="0" algn="just">
              <a:spcBef>
                <a:spcPts val="0"/>
              </a:spcBef>
              <a:buSzPts val="2400"/>
              <a:buNone/>
            </a:pPr>
            <a:endParaRPr lang="en-US" sz="1800" dirty="0">
              <a:solidFill>
                <a:srgbClr val="0D0D0D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marL="514350" indent="-514350" algn="just">
              <a:lnSpc>
                <a:spcPct val="100000"/>
              </a:lnSpc>
              <a:spcBef>
                <a:spcPts val="0"/>
              </a:spcBef>
              <a:buSzPts val="2400"/>
              <a:buFont typeface="+mj-lt"/>
              <a:buAutoNum type="arabicPeriod"/>
            </a:pPr>
            <a:r>
              <a:rPr lang="en-IN" sz="1800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The primary goal of this machine learning project is to develop a model that can accurately predict whether a given set of experimental features corresponds to a signal or background event.</a:t>
            </a:r>
          </a:p>
          <a:p>
            <a:pPr marL="514350" indent="-514350" algn="just">
              <a:lnSpc>
                <a:spcPct val="100000"/>
              </a:lnSpc>
              <a:spcBef>
                <a:spcPts val="0"/>
              </a:spcBef>
              <a:buSzPts val="2400"/>
              <a:buFont typeface="+mj-lt"/>
              <a:buAutoNum type="arabicPeriod"/>
            </a:pPr>
            <a:endParaRPr lang="en-IN" sz="1800" dirty="0">
              <a:solidFill>
                <a:srgbClr val="0D0D0D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marL="514350" indent="-514350" algn="just">
              <a:lnSpc>
                <a:spcPct val="100000"/>
              </a:lnSpc>
              <a:spcBef>
                <a:spcPts val="0"/>
              </a:spcBef>
              <a:buSzPts val="2400"/>
              <a:buFont typeface="+mj-lt"/>
              <a:buAutoNum type="arabicPeriod"/>
            </a:pPr>
            <a:r>
              <a:rPr lang="en-US" sz="1800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Successful classification contributes to the advancement of particle physics research by automating the identification of events that may indicate the presence of specific particles or phenomena.</a:t>
            </a:r>
          </a:p>
          <a:p>
            <a:pPr marL="91440" lvl="0" indent="0">
              <a:spcBef>
                <a:spcPts val="1400"/>
              </a:spcBef>
              <a:buSzPts val="2000"/>
              <a:buNone/>
            </a:pPr>
            <a:endParaRPr lang="en-US" sz="1100" dirty="0"/>
          </a:p>
          <a:p>
            <a:endParaRPr lang="en-IN" sz="1100" dirty="0"/>
          </a:p>
          <a:p>
            <a:pPr marL="514350" lvl="0" indent="-514350" algn="just">
              <a:spcBef>
                <a:spcPts val="0"/>
              </a:spcBef>
              <a:buSzPts val="2400"/>
              <a:buFont typeface="+mj-lt"/>
              <a:buAutoNum type="arabicPeriod"/>
            </a:pPr>
            <a:endParaRPr lang="en-US" sz="18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>
              <a:spcBef>
                <a:spcPts val="1400"/>
              </a:spcBef>
              <a:buSzPts val="2400"/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Generated image">
            <a:extLst>
              <a:ext uri="{FF2B5EF4-FFF2-40B4-BE49-F238E27FC236}">
                <a16:creationId xmlns:a16="http://schemas.microsoft.com/office/drawing/2014/main" id="{F99C874B-AC80-B250-C424-2C1CA19CDE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57016" y="3040523"/>
            <a:ext cx="2134984" cy="14233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93336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2C71BD-7F33-4E88-55D3-A08DB82E21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65471" y="550606"/>
            <a:ext cx="2851355" cy="562635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ML Model Life cycle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AutoNum type="arabicPeriod"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AutoNum type="arabicPeriod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Definition</a:t>
            </a:r>
          </a:p>
          <a:p>
            <a:pPr marL="514350" indent="-514350">
              <a:buAutoNum type="arabicPeriod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</a:t>
            </a:r>
          </a:p>
          <a:p>
            <a:pPr marL="514350" indent="-514350">
              <a:buAutoNum type="arabicPeriod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</a:t>
            </a:r>
          </a:p>
          <a:p>
            <a:pPr marL="514350" indent="-514350">
              <a:buAutoNum type="arabicPeriod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Selection</a:t>
            </a:r>
          </a:p>
          <a:p>
            <a:pPr marL="514350" indent="-514350">
              <a:buAutoNum type="arabicPeriod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Training</a:t>
            </a:r>
          </a:p>
          <a:p>
            <a:pPr marL="514350" indent="-514350">
              <a:buAutoNum type="arabicPeriod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Evaluation</a:t>
            </a:r>
          </a:p>
          <a:p>
            <a:pPr marL="514350" indent="-514350">
              <a:buAutoNum type="arabicPeriod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Deployment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86D649-7D3B-82ED-EBA4-BB8BF3B524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21626" y="0"/>
            <a:ext cx="8770374" cy="644996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Problem Definition</a:t>
            </a:r>
          </a:p>
          <a:p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particle physics, an event refers to the results just after a fundamental interaction took place  between subatomic particles, occurring in a very short time span, at a well-localized region of space.</a:t>
            </a:r>
          </a:p>
          <a:p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background event is explained by the existing theories and previous observations.</a:t>
            </a:r>
          </a:p>
          <a:p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the other hand, a signal event indicates a process that cannot be described by previous observations and leads to the potential discovery of a new particle.</a:t>
            </a:r>
          </a:p>
          <a:p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target Label is a binary variable, taking values b and s, indicating the status of an event.</a:t>
            </a:r>
          </a:p>
          <a:p>
            <a:pPr marL="0" indent="0">
              <a:buNone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b -&gt;background event</a:t>
            </a:r>
          </a:p>
          <a:p>
            <a:pPr marL="0" indent="0">
              <a:buNone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s -&gt;signal event</a:t>
            </a:r>
          </a:p>
          <a:p>
            <a:pPr marL="0" indent="0">
              <a:buNone/>
            </a:pPr>
            <a:r>
              <a:rPr lang="en-IN" sz="17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Data collection – 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collecting the data we need to understand the data dictionary. Understanding the  nature of all the feature and the target column.</a:t>
            </a:r>
          </a:p>
          <a:p>
            <a:pPr marL="0" indent="0">
              <a:buSzPts val="2400"/>
              <a:buNone/>
            </a:pPr>
            <a:r>
              <a:rPr lang="en-US" sz="17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</a:t>
            </a:r>
            <a:r>
              <a:rPr lang="en-IN" sz="17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Data Preprocessing</a:t>
            </a:r>
          </a:p>
          <a:p>
            <a:pPr marL="0" indent="0">
              <a:buSzPts val="2400"/>
              <a:buNone/>
            </a:pP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 the data: 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 missing values, remove duplicates.</a:t>
            </a:r>
          </a:p>
          <a:p>
            <a:pPr marL="0" indent="0">
              <a:buSzPts val="2400"/>
              <a:buNone/>
            </a:pP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engineering: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transform raw detector readings into meaningful features.</a:t>
            </a:r>
          </a:p>
          <a:p>
            <a:pPr marL="0" indent="0">
              <a:buSzPts val="2400"/>
              <a:buNone/>
            </a:pP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Encoding &amp; scaling: 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= many Decision Trees trained on bootstrapped samples +</a:t>
            </a:r>
          </a:p>
          <a:p>
            <a:pPr marL="0" indent="0">
              <a:buSzPts val="2400"/>
              <a:buNone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subsets. Each tree works the same way (order-based splits).</a:t>
            </a:r>
          </a:p>
          <a:p>
            <a:pPr marL="0" indent="0">
              <a:buSzPts val="2400"/>
              <a:buNone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Scaling features won’t change which samples go left/right in splits.</a:t>
            </a:r>
          </a:p>
          <a:p>
            <a:pPr marL="0" indent="0">
              <a:buSzPts val="2400"/>
              <a:buNone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 predictions are invariant to scaling.</a:t>
            </a:r>
          </a:p>
          <a:p>
            <a:pPr marL="0" indent="0">
              <a:buSzPts val="2400"/>
              <a:buNone/>
            </a:pP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Splitting dataset: 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into training, validation, and testing sets.</a:t>
            </a:r>
          </a:p>
          <a:p>
            <a:endParaRPr lang="en-IN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06091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3AAB23F-6C9A-6EC8-1998-79B1CE34FC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6310" y="-88490"/>
            <a:ext cx="10783529" cy="5881995"/>
          </a:xfrm>
        </p:spPr>
        <p:txBody>
          <a:bodyPr>
            <a:noAutofit/>
          </a:bodyPr>
          <a:lstStyle/>
          <a:p>
            <a:pPr>
              <a:lnSpc>
                <a:spcPct val="170000"/>
              </a:lnSpc>
            </a:pPr>
            <a:r>
              <a:rPr lang="en-IN" sz="17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4.Model Selection:   </a:t>
            </a:r>
            <a:r>
              <a:rPr lang="en-IN" sz="1700" b="1" i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Reason for choosing Random Forest</a:t>
            </a:r>
            <a:br>
              <a:rPr lang="en-IN" sz="1700" b="1" i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1.Handles high-dim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ensi</a:t>
            </a:r>
            <a:r>
              <a:rPr lang="en-I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onal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complex data  Particle physics datasets often have many features (detector readings, jet properties, angles, momenta).</a:t>
            </a:r>
            <a:r>
              <a:rPr lang="en-I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</a:t>
            </a:r>
            <a:r>
              <a:rPr lang="en-IN" sz="1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Forest:</a:t>
            </a:r>
            <a:r>
              <a:rPr lang="en-IN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Works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well with high-dimensional tabular data.</a:t>
            </a:r>
            <a:b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Automatically considers different subsets of features for each tree → captures complex relationships.</a:t>
            </a:r>
            <a:b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lang="en-I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imbalanced datasets</a:t>
            </a:r>
            <a:br>
              <a:rPr lang="en-IN" sz="17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experiments have few signal events vs many background events. </a:t>
            </a:r>
            <a:b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7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Random Forest supports:</a:t>
            </a:r>
            <a:br>
              <a:rPr lang="en-IN" sz="17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weights</a:t>
            </a:r>
            <a:br>
              <a:rPr lang="en-I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sample weighting 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(important in particle physics)</a:t>
            </a:r>
            <a:b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helps focus the model on rare but important signal events.</a:t>
            </a:r>
            <a:b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overfitting</a:t>
            </a:r>
            <a:b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 decision trees tend to overfit.</a:t>
            </a:r>
            <a:b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builds many trees on random subsets of data and features → averaging reduces variance → better   generalization.</a:t>
            </a:r>
            <a:b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17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BAD4762-7DAE-2E2B-C075-B7F8C4FA066D}"/>
              </a:ext>
            </a:extLst>
          </p:cNvPr>
          <p:cNvSpPr txBox="1"/>
          <p:nvPr/>
        </p:nvSpPr>
        <p:spPr>
          <a:xfrm>
            <a:off x="668594" y="6164826"/>
            <a:ext cx="107835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Nonlinearity and Complex Interactions, Works Well on Imbalanced Data,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Feature Importance, OOB Validation (Built-in Cross-Validation)</a:t>
            </a:r>
          </a:p>
        </p:txBody>
      </p:sp>
    </p:spTree>
    <p:extLst>
      <p:ext uri="{BB962C8B-B14F-4D97-AF65-F5344CB8AC3E}">
        <p14:creationId xmlns:p14="http://schemas.microsoft.com/office/powerpoint/2010/main" val="7443820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8E564E-3EF2-E785-C2E6-6C52E2C251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6981" y="255639"/>
            <a:ext cx="11176819" cy="59213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5.Model Training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Fit the model on the training data.</a:t>
            </a: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Weighted training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may be needed (e.g.,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sample_weight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particle physics events).</a:t>
            </a:r>
          </a:p>
          <a:p>
            <a:pPr marL="0" indent="0">
              <a:buNone/>
            </a:pPr>
            <a:r>
              <a:rPr lang="en-US" sz="17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</a:t>
            </a:r>
            <a:r>
              <a:rPr lang="en-IN" sz="17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Model Evaluation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 using:</a:t>
            </a:r>
          </a:p>
          <a:p>
            <a:pPr lvl="1"/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metrics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check for underfitting/overfitting.</a:t>
            </a:r>
          </a:p>
          <a:p>
            <a:pPr lvl="1"/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Validation/test metrics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accuracy, ROC-AUC, F1-score, confusion matrix.</a:t>
            </a:r>
          </a:p>
          <a:p>
            <a:pPr lvl="1"/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Weighted metrics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if events have different importance.</a:t>
            </a:r>
          </a:p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Cross-validation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ensures stability across data splits. </a:t>
            </a:r>
          </a:p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3D13855-CACC-3F8A-FF0B-12717AD1EB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793" y="3429000"/>
            <a:ext cx="4892050" cy="363931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DF3F3FB-7657-7051-E006-DF0E831CC2EE}"/>
              </a:ext>
            </a:extLst>
          </p:cNvPr>
          <p:cNvSpPr txBox="1"/>
          <p:nvPr/>
        </p:nvSpPr>
        <p:spPr>
          <a:xfrm>
            <a:off x="5344333" y="3716594"/>
            <a:ext cx="43913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Target Class Distribution</a:t>
            </a:r>
          </a:p>
        </p:txBody>
      </p:sp>
      <p:pic>
        <p:nvPicPr>
          <p:cNvPr id="5122" name="Picture 2" descr="Generated image">
            <a:extLst>
              <a:ext uri="{FF2B5EF4-FFF2-40B4-BE49-F238E27FC236}">
                <a16:creationId xmlns:a16="http://schemas.microsoft.com/office/drawing/2014/main" id="{4EB13AB6-C92F-1C0E-6CC3-79181D5079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9952" y="607142"/>
            <a:ext cx="3855067" cy="56437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2D3569A-1781-708E-7E33-34CA739F171C}"/>
              </a:ext>
            </a:extLst>
          </p:cNvPr>
          <p:cNvSpPr txBox="1"/>
          <p:nvPr/>
        </p:nvSpPr>
        <p:spPr>
          <a:xfrm>
            <a:off x="8190271" y="127819"/>
            <a:ext cx="36772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Flow of Random Forest Algorithm</a:t>
            </a:r>
            <a:endParaRPr lang="en-IN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52437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D211ED-BFBD-0195-9033-3067A25F47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AC51575-FD91-BC3F-A80F-C31EA875AD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91" y="884903"/>
            <a:ext cx="11513574" cy="475528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DBE0D2A-392B-AE7A-FA8E-09F951846E5F}"/>
              </a:ext>
            </a:extLst>
          </p:cNvPr>
          <p:cNvSpPr txBox="1"/>
          <p:nvPr/>
        </p:nvSpPr>
        <p:spPr>
          <a:xfrm>
            <a:off x="88491" y="285897"/>
            <a:ext cx="52012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TARGET COLUMNN ANALYSIS</a:t>
            </a:r>
          </a:p>
        </p:txBody>
      </p:sp>
    </p:spTree>
    <p:extLst>
      <p:ext uri="{BB962C8B-B14F-4D97-AF65-F5344CB8AC3E}">
        <p14:creationId xmlns:p14="http://schemas.microsoft.com/office/powerpoint/2010/main" val="42522764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514DE2-16C0-361B-0038-9371FF8240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CE81B784-A557-A15A-A177-969E7D04B9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723" y="678426"/>
            <a:ext cx="10825315" cy="5957478"/>
          </a:xfr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3DB857E-73EE-67D2-90D8-9E82831618B8}"/>
              </a:ext>
            </a:extLst>
          </p:cNvPr>
          <p:cNvSpPr txBox="1"/>
          <p:nvPr/>
        </p:nvSpPr>
        <p:spPr>
          <a:xfrm>
            <a:off x="3180735" y="-126701"/>
            <a:ext cx="64573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Before Treating Outliers</a:t>
            </a:r>
          </a:p>
        </p:txBody>
      </p:sp>
    </p:spTree>
    <p:extLst>
      <p:ext uri="{BB962C8B-B14F-4D97-AF65-F5344CB8AC3E}">
        <p14:creationId xmlns:p14="http://schemas.microsoft.com/office/powerpoint/2010/main" val="26623508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E26258-4B2F-D7CA-0C3A-A17572BC0D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E772AFB-9149-D017-B1E2-0FFF93974323}"/>
              </a:ext>
            </a:extLst>
          </p:cNvPr>
          <p:cNvSpPr txBox="1"/>
          <p:nvPr/>
        </p:nvSpPr>
        <p:spPr>
          <a:xfrm>
            <a:off x="3180735" y="-126701"/>
            <a:ext cx="64573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After Treating Outliers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9FC6C279-470D-C2BB-38BC-7E43318203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55" y="334964"/>
            <a:ext cx="11621729" cy="6429630"/>
          </a:xfrm>
        </p:spPr>
      </p:pic>
    </p:spTree>
    <p:extLst>
      <p:ext uri="{BB962C8B-B14F-4D97-AF65-F5344CB8AC3E}">
        <p14:creationId xmlns:p14="http://schemas.microsoft.com/office/powerpoint/2010/main" val="15569642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F8083D0-6947-AF73-319F-9BB9A3E76C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OOB Score vs Number of trees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8A6C00D3-C1B5-4CC6-736A-95A9F3EC2066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38200" y="2005781"/>
            <a:ext cx="5181600" cy="36376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58B71F-0ECB-FEFF-D843-E492A276AE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626510" cy="4351338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biggest improvement happens between 10 → 50 trees.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100 trees, the curve flattens out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150 trees onwards, there is almost no improvement in OOB accuracy.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 Choosing the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n_estimators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between 150–200 would be the best choice.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7579128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0D5A6F-28BE-317E-0931-87B3D614C0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D582B12-4FAE-CE4C-1472-57B8EBC1C9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2065" y="249545"/>
            <a:ext cx="6622179" cy="469608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1D331AD-1E94-0390-880E-369C18B755C5}"/>
              </a:ext>
            </a:extLst>
          </p:cNvPr>
          <p:cNvSpPr txBox="1"/>
          <p:nvPr/>
        </p:nvSpPr>
        <p:spPr>
          <a:xfrm>
            <a:off x="5292134" y="5112774"/>
            <a:ext cx="574203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/>
              <a:t>Out of all the model such as </a:t>
            </a:r>
            <a:r>
              <a:rPr lang="en-US" b="1" dirty="0" err="1"/>
              <a:t>Bagging,Random</a:t>
            </a:r>
            <a:r>
              <a:rPr lang="en-US" b="1" dirty="0"/>
              <a:t> </a:t>
            </a:r>
            <a:r>
              <a:rPr lang="en-US" b="1" dirty="0" err="1"/>
              <a:t>Forest,AdaBoost,GDBoost,KNN</a:t>
            </a:r>
            <a:r>
              <a:rPr lang="en-US" b="1" dirty="0"/>
              <a:t>----&gt; Random Forest gives high accuracy.</a:t>
            </a:r>
          </a:p>
          <a:p>
            <a:pPr algn="just"/>
            <a:endParaRPr lang="en-IN" b="1" dirty="0"/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E6787F70-1BF8-2D93-3281-0080D37D37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49545"/>
            <a:ext cx="5105400" cy="4476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022849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F1A81E-0084-3D0E-BF45-4AE964CB29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117987"/>
            <a:ext cx="5157787" cy="645487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b="1" dirty="0"/>
              <a:t>Observations</a:t>
            </a:r>
            <a:endParaRPr lang="en-US" sz="1600" dirty="0"/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 Data set Contains 250000 rows and 33 columns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   There are 32 numerical features and 1 categorical features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   The data has 0 duplicate rows.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   Label has 2 unique value(</a:t>
            </a:r>
            <a:r>
              <a:rPr lang="en-US" sz="1600" dirty="0" err="1"/>
              <a:t>i.e</a:t>
            </a:r>
            <a:r>
              <a:rPr lang="en-US" sz="1600" dirty="0"/>
              <a:t> "s"- &gt; </a:t>
            </a:r>
            <a:r>
              <a:rPr lang="en-US" sz="1600" dirty="0" err="1"/>
              <a:t>Signal,"b</a:t>
            </a:r>
            <a:r>
              <a:rPr lang="en-US" sz="1600" dirty="0"/>
              <a:t>"-&gt; Background noise)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   The target label proportion is "b" -&gt;65.73% and "s"-&gt; 34.27%.The data  is </a:t>
            </a:r>
            <a:r>
              <a:rPr lang="en-US" sz="1600" dirty="0" err="1"/>
              <a:t>midly</a:t>
            </a:r>
            <a:r>
              <a:rPr lang="en-US" sz="1600" dirty="0"/>
              <a:t> </a:t>
            </a:r>
            <a:r>
              <a:rPr lang="en-US" sz="1600" dirty="0" err="1"/>
              <a:t>imbalaced</a:t>
            </a:r>
            <a:r>
              <a:rPr lang="en-US" sz="1600" dirty="0"/>
              <a:t> data.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   The target label( Background Contains - 164333 </a:t>
            </a:r>
            <a:r>
              <a:rPr lang="en-US" sz="1600" dirty="0" err="1"/>
              <a:t>dp's</a:t>
            </a:r>
            <a:r>
              <a:rPr lang="en-US" sz="1600" dirty="0"/>
              <a:t> and Signal contains-&gt; 85667 </a:t>
            </a:r>
            <a:r>
              <a:rPr lang="en-US" sz="1600" dirty="0" err="1"/>
              <a:t>dp's</a:t>
            </a:r>
            <a:r>
              <a:rPr lang="en-US" sz="1600" dirty="0"/>
              <a:t>)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   No of Integer columns : 2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   No of float columns: 30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   No of Object columns:1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  There are 0 duplicated rows</a:t>
            </a:r>
          </a:p>
          <a:p>
            <a:pPr marL="0" indent="0">
              <a:buNone/>
            </a:pPr>
            <a:endParaRPr lang="en-IN" sz="1600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2F0B3D3-9E4D-4F6C-7FD5-362BD936AF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997575" y="285135"/>
            <a:ext cx="6037109" cy="59045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dirty="0"/>
              <a:t>11.  For treating outliers, applied </a:t>
            </a:r>
            <a:r>
              <a:rPr lang="en-US" sz="1600" dirty="0" err="1"/>
              <a:t>Winsorization</a:t>
            </a:r>
            <a:r>
              <a:rPr lang="en-US" sz="1600" dirty="0"/>
              <a:t> using IQR (also called fence method).</a:t>
            </a:r>
          </a:p>
          <a:p>
            <a:pPr marL="0" indent="0">
              <a:buNone/>
            </a:pPr>
            <a:r>
              <a:rPr lang="en-US" sz="1600" dirty="0"/>
              <a:t>12.   Training Accuracy Score(unweighted): 100.0 </a:t>
            </a:r>
          </a:p>
          <a:p>
            <a:pPr marL="0" indent="0">
              <a:buNone/>
            </a:pPr>
            <a:r>
              <a:rPr lang="en-US" sz="1600" dirty="0"/>
              <a:t>13.  Training Accuracy Score(weighted): 100.0 %</a:t>
            </a:r>
          </a:p>
          <a:p>
            <a:pPr marL="0" indent="0">
              <a:buNone/>
            </a:pPr>
            <a:r>
              <a:rPr lang="en-US" sz="1600" dirty="0"/>
              <a:t>14.  Testing Accuracy Score (unweighted): 82.67 %</a:t>
            </a:r>
          </a:p>
          <a:p>
            <a:pPr marL="0" indent="0">
              <a:buNone/>
            </a:pPr>
            <a:r>
              <a:rPr lang="en-US" sz="1600" dirty="0"/>
              <a:t>15.  Testing Accuracy Score (weighted):   91.65 %</a:t>
            </a:r>
          </a:p>
          <a:p>
            <a:pPr marL="0" indent="0">
              <a:buNone/>
            </a:pPr>
            <a:r>
              <a:rPr lang="en-US" sz="1600" dirty="0"/>
              <a:t>16. ROC AUC (weighted): 92.09 %</a:t>
            </a:r>
          </a:p>
          <a:p>
            <a:pPr marL="0" indent="0">
              <a:buNone/>
            </a:pPr>
            <a:r>
              <a:rPr lang="en-US" sz="1600" dirty="0"/>
              <a:t>17. Cross validation Training Score 83.75</a:t>
            </a:r>
          </a:p>
          <a:p>
            <a:pPr marL="0" indent="0">
              <a:buNone/>
            </a:pPr>
            <a:r>
              <a:rPr lang="en-US" sz="1600" dirty="0"/>
              <a:t>18. Testing Accuracy Score: 82.63 %</a:t>
            </a:r>
          </a:p>
          <a:p>
            <a:pPr marL="0" indent="0">
              <a:buNone/>
            </a:pPr>
            <a:r>
              <a:rPr lang="en-US" sz="1600" dirty="0"/>
              <a:t>19. Bagging Accuracy  0.805253   </a:t>
            </a:r>
          </a:p>
          <a:p>
            <a:pPr marL="0" indent="0">
              <a:buNone/>
            </a:pPr>
            <a:r>
              <a:rPr lang="en-US" sz="1600" dirty="0"/>
              <a:t>20. RF Accuracy  0.825720</a:t>
            </a:r>
          </a:p>
          <a:p>
            <a:pPr marL="0" indent="0">
              <a:buNone/>
            </a:pPr>
            <a:r>
              <a:rPr lang="en-US" sz="1600" dirty="0"/>
              <a:t>21.AdaBoost Accuracy  0.657333</a:t>
            </a:r>
          </a:p>
          <a:p>
            <a:pPr marL="0" indent="0">
              <a:buNone/>
            </a:pPr>
            <a:r>
              <a:rPr lang="en-US" sz="1600" dirty="0"/>
              <a:t>22  </a:t>
            </a:r>
            <a:r>
              <a:rPr lang="en-US" sz="1600" dirty="0" err="1"/>
              <a:t>GDBoost</a:t>
            </a:r>
            <a:r>
              <a:rPr lang="en-US" sz="1600" dirty="0"/>
              <a:t>   Accuracy 0.667973</a:t>
            </a:r>
          </a:p>
          <a:p>
            <a:pPr marL="0" indent="0">
              <a:buNone/>
            </a:pPr>
            <a:r>
              <a:rPr lang="en-US" sz="1600" dirty="0"/>
              <a:t>23.   KNN Accuracy   0.791960</a:t>
            </a:r>
          </a:p>
          <a:p>
            <a:pPr marL="0" indent="0">
              <a:buNone/>
            </a:pPr>
            <a:r>
              <a:rPr lang="en-US" sz="1600" dirty="0"/>
              <a:t>24. Out of all the model such as </a:t>
            </a:r>
            <a:r>
              <a:rPr lang="en-US" sz="1600" dirty="0" err="1"/>
              <a:t>Bagging,Random</a:t>
            </a:r>
            <a:r>
              <a:rPr lang="en-US" sz="1600" dirty="0"/>
              <a:t> </a:t>
            </a:r>
            <a:r>
              <a:rPr lang="en-US" sz="1600" dirty="0" err="1"/>
              <a:t>Forest,AdaBoost,GDBoost,KNN</a:t>
            </a:r>
            <a:r>
              <a:rPr lang="en-US" sz="1600" dirty="0"/>
              <a:t>----&gt; Random Forest gives high accuracy.</a:t>
            </a:r>
          </a:p>
          <a:p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6070754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5736</TotalTime>
  <Words>990</Words>
  <Application>Microsoft Office PowerPoint</Application>
  <PresentationFormat>Widescreen</PresentationFormat>
  <Paragraphs>91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Times New Roman</vt:lpstr>
      <vt:lpstr>Office Theme</vt:lpstr>
      <vt:lpstr>Title : Particle Physics Event Classification using Random Forest ML model : Signal Vs Background.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OOB Score vs Number of trees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SUGUNA S</dc:creator>
  <cp:lastModifiedBy>SUGUNA S</cp:lastModifiedBy>
  <cp:revision>17</cp:revision>
  <dcterms:created xsi:type="dcterms:W3CDTF">2025-09-11T06:41:50Z</dcterms:created>
  <dcterms:modified xsi:type="dcterms:W3CDTF">2025-10-13T18:25:09Z</dcterms:modified>
</cp:coreProperties>
</file>